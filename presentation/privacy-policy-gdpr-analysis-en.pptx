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7eda5ea1d34717" /><Relationship Type="http://schemas.openxmlformats.org/officeDocument/2006/relationships/extended-properties" Target="/docProps/app.xml" Id="R449ffe3d54d94089" /><Relationship Type="http://schemas.openxmlformats.org/officeDocument/2006/relationships/officeDocument" Target="/ppt/presentation.xml" Id="Rca8fd909f12d41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d6064bb6341e4"/>
  </p:sldMasterIdLst>
  <p:notesMasterIdLst>
    <p:notesMasterId xmlns:r="http://schemas.openxmlformats.org/officeDocument/2006/relationships" r:id="Rc08ddc9866a64e4b"/>
  </p:notesMasterIdLst>
  <p:sldIdLst>
    <p:sldId xmlns:r="http://schemas.openxmlformats.org/officeDocument/2006/relationships" id="256" r:id="Rc12677eeb54b42d1"/>
    <p:sldId xmlns:r="http://schemas.openxmlformats.org/officeDocument/2006/relationships" id="257" r:id="R1793f33c56d8431f"/>
    <p:sldId xmlns:r="http://schemas.openxmlformats.org/officeDocument/2006/relationships" id="258" r:id="R9380d6ffde154924"/>
    <p:sldId xmlns:r="http://schemas.openxmlformats.org/officeDocument/2006/relationships" id="259" r:id="R0cc249fdb1b541a6"/>
    <p:sldId xmlns:r="http://schemas.openxmlformats.org/officeDocument/2006/relationships" id="260" r:id="R951e8f7bc4a64918"/>
    <p:sldId xmlns:r="http://schemas.openxmlformats.org/officeDocument/2006/relationships" id="261" r:id="Re981657c6b68466f"/>
    <p:sldId xmlns:r="http://schemas.openxmlformats.org/officeDocument/2006/relationships" id="262" r:id="R8542386167cc45c3"/>
    <p:sldId xmlns:r="http://schemas.openxmlformats.org/officeDocument/2006/relationships" id="263" r:id="R0f02ea394c8149d4"/>
    <p:sldId xmlns:r="http://schemas.openxmlformats.org/officeDocument/2006/relationships" id="264" r:id="R25b4f31e6e9a412b"/>
    <p:sldId xmlns:r="http://schemas.openxmlformats.org/officeDocument/2006/relationships" id="265" r:id="R3682f9d097894b7b"/>
    <p:sldId xmlns:r="http://schemas.openxmlformats.org/officeDocument/2006/relationships" id="266" r:id="R5721ab02165d4d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3da5b70b9430b" /><Relationship Type="http://schemas.openxmlformats.org/officeDocument/2006/relationships/slideMaster" Target="/ppt/slideMasters/slideMaster1.xml" Id="R7d9d6064bb6341e4" /><Relationship Type="http://schemas.openxmlformats.org/officeDocument/2006/relationships/notesMaster" Target="/ppt/notesMasters/notesMaster1.xml" Id="Rc08ddc9866a64e4b" /><Relationship Type="http://schemas.openxmlformats.org/officeDocument/2006/relationships/presProps" Target="/ppt/presProps.xml" Id="R8fa3dffaed974e26" /><Relationship Type="http://schemas.openxmlformats.org/officeDocument/2006/relationships/tableStyles" Target="/ppt/tableStyles.xml" Id="R94dfd212a077440d" /><Relationship Type="http://schemas.openxmlformats.org/officeDocument/2006/relationships/slide" Target="/ppt/slides/slide1.xml" Id="Rc12677eeb54b42d1" /><Relationship Type="http://schemas.openxmlformats.org/officeDocument/2006/relationships/slide" Target="/ppt/slides/slide2.xml" Id="R1793f33c56d8431f" /><Relationship Type="http://schemas.openxmlformats.org/officeDocument/2006/relationships/slide" Target="/ppt/slides/slide3.xml" Id="R9380d6ffde154924" /><Relationship Type="http://schemas.openxmlformats.org/officeDocument/2006/relationships/slide" Target="/ppt/slides/slide4.xml" Id="R0cc249fdb1b541a6" /><Relationship Type="http://schemas.openxmlformats.org/officeDocument/2006/relationships/slide" Target="/ppt/slides/slide5.xml" Id="R951e8f7bc4a64918" /><Relationship Type="http://schemas.openxmlformats.org/officeDocument/2006/relationships/slide" Target="/ppt/slides/slide6.xml" Id="Re981657c6b68466f" /><Relationship Type="http://schemas.openxmlformats.org/officeDocument/2006/relationships/slide" Target="/ppt/slides/slide7.xml" Id="R8542386167cc45c3" /><Relationship Type="http://schemas.openxmlformats.org/officeDocument/2006/relationships/slide" Target="/ppt/slides/slide8.xml" Id="R0f02ea394c8149d4" /><Relationship Type="http://schemas.openxmlformats.org/officeDocument/2006/relationships/slide" Target="/ppt/slides/slide9.xml" Id="R25b4f31e6e9a412b" /><Relationship Type="http://schemas.openxmlformats.org/officeDocument/2006/relationships/slide" Target="/ppt/slides/slide10.xml" Id="R3682f9d097894b7b" /><Relationship Type="http://schemas.openxmlformats.org/officeDocument/2006/relationships/slide" Target="/ppt/slides/slide11.xml" Id="R5721ab02165d4d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3225498c1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42d184627c442f" /><Relationship Type="http://schemas.openxmlformats.org/officeDocument/2006/relationships/notesMaster" Target="/ppt/notesMasters/notesMaster1.xml" Id="R56ecc6dd5974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aecea92584fbb" /><Relationship Type="http://schemas.openxmlformats.org/officeDocument/2006/relationships/notesMaster" Target="/ppt/notesMasters/notesMaster1.xml" Id="R9759f67617ea4a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c62bf610b4e2a" /><Relationship Type="http://schemas.openxmlformats.org/officeDocument/2006/relationships/notesMaster" Target="/ppt/notesMasters/notesMaster1.xml" Id="R1f19da4479144a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1482c7442d4561" /><Relationship Type="http://schemas.openxmlformats.org/officeDocument/2006/relationships/notesMaster" Target="/ppt/notesMasters/notesMaster1.xml" Id="R39f05959efe84e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28ea86cc9a4de9" /><Relationship Type="http://schemas.openxmlformats.org/officeDocument/2006/relationships/notesMaster" Target="/ppt/notesMasters/notesMaster1.xml" Id="Rd4fd59be3c624c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3538954d7d46ec" /><Relationship Type="http://schemas.openxmlformats.org/officeDocument/2006/relationships/notesMaster" Target="/ppt/notesMasters/notesMaster1.xml" Id="R91b6bd498e564b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27c96570b34d59" /><Relationship Type="http://schemas.openxmlformats.org/officeDocument/2006/relationships/notesMaster" Target="/ppt/notesMasters/notesMaster1.xml" Id="Rd3a4fa37e10c4d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ac9cfd7e4a4f39" /><Relationship Type="http://schemas.openxmlformats.org/officeDocument/2006/relationships/notesMaster" Target="/ppt/notesMasters/notesMaster1.xml" Id="R04ba9b59c0a24c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0d98e60f04cf7" /><Relationship Type="http://schemas.openxmlformats.org/officeDocument/2006/relationships/notesMaster" Target="/ppt/notesMasters/notesMaster1.xml" Id="R6812bdc7a88a44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ae7a93ad5b4e27" /><Relationship Type="http://schemas.openxmlformats.org/officeDocument/2006/relationships/notesMaster" Target="/ppt/notesMasters/notesMaster1.xml" Id="R8ab744c5cec84c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b7509250b04ae7" /><Relationship Type="http://schemas.openxmlformats.org/officeDocument/2006/relationships/notesMaster" Target="/ppt/notesMasters/notesMaster1.xml" Id="Rde85dfffff3f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BIOIATRIKI Healthcare Group public privacy policy; GDPR; EDPB transparency guidance; Hellenic Data Protection Authority notice-design guidance. Status checked 15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 method based on GDPR Articles 5, 9, 12-14, 15-22, 25, 32, 35 and 44-49. Public policy: https://bioiatriki.gr/en/data-protection-privacy-policy/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Scores are the author’s structured maturity assessment of public disclosure quality. They are not legal findings or independent assurance.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policy reviewed at https://bioiatriki.gr/en/data-protection-privacy-policy/ (checked 15 October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assessment based on the public notice and the evidence boundary described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Transparency criteria: GDPR Articles 12-14 and WP29/EDPB Guidelines on transparency under Regulation 2016/679.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GDPR Articles 13-14 and 44-49; EDPB transparency guidance; public policy transfer and retention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Hellenic Data Protection Authority recommends layered approaches, privacy dashboards and just-in-time notices: https://www.dpa.gr/en/by-design/data-protection-policies-and-notices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recommendation informed by GDPR Articles 13-14 and EDPB transparency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remediation plan. It should be adapted to actual controller roles, operations and national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based on public evidence checked 15 October 2026. A legal compliance opinion would require internal evidence and jurisdiction-specific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f8abc5dd741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0b2dcee6c46d5" /><Relationship Type="http://schemas.openxmlformats.org/officeDocument/2006/relationships/slideLayout" Target="/ppt/slideLayouts/slideLayout1.xml" Id="Rfce08ca15b694b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08ca15b694b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47de4832445bc" /><Relationship Type="http://schemas.openxmlformats.org/officeDocument/2006/relationships/image" Target="/ppt/media/image.png" Id="Rf87f7d9a26a24243" /><Relationship Type="http://schemas.openxmlformats.org/officeDocument/2006/relationships/notesSlide" Target="/ppt/notesSlides/notesSlide1.xml" Id="R8eaf714b54c7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95755189e4274" /><Relationship Type="http://schemas.openxmlformats.org/officeDocument/2006/relationships/notesSlide" Target="/ppt/notesSlides/notesSlide2.xml" Id="R684fd6b3184a4e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945cdaa984247" /><Relationship Type="http://schemas.openxmlformats.org/officeDocument/2006/relationships/chart" Target="/ppt/slides/charts/chart1.xml" Id="R5e9114c61fd74323" /><Relationship Type="http://schemas.openxmlformats.org/officeDocument/2006/relationships/notesSlide" Target="/ppt/notesSlides/notesSlide3.xml" Id="R04b264eb938b45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31edafdbf487f" /><Relationship Type="http://schemas.openxmlformats.org/officeDocument/2006/relationships/notesSlide" Target="/ppt/notesSlides/notesSlide4.xml" Id="R0d41740f55e543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bf0d0bcf6450e" /><Relationship Type="http://schemas.openxmlformats.org/officeDocument/2006/relationships/notesSlide" Target="/ppt/notesSlides/notesSlide5.xml" Id="Rbc5dfaf8fc9942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b9c526ddc41e7" /><Relationship Type="http://schemas.openxmlformats.org/officeDocument/2006/relationships/notesSlide" Target="/ppt/notesSlides/notesSlide6.xml" Id="Ra104ef03da5a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0c72815fb487f" /><Relationship Type="http://schemas.openxmlformats.org/officeDocument/2006/relationships/notesSlide" Target="/ppt/notesSlides/notesSlide7.xml" Id="Ra905362a84df4d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5cb6041647b8" /><Relationship Type="http://schemas.openxmlformats.org/officeDocument/2006/relationships/notesSlide" Target="/ppt/notesSlides/notesSlide8.xml" Id="R54d07fc9b3fb4c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01636545148ae" /><Relationship Type="http://schemas.openxmlformats.org/officeDocument/2006/relationships/notesSlide" Target="/ppt/notesSlides/notesSlide9.xml" Id="R43b9ec9d4fbb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0409623594a34" /><Relationship Type="http://schemas.openxmlformats.org/officeDocument/2006/relationships/notesSlide" Target="/ppt/notesSlides/notesSlide10.xml" Id="R8590650fb25a44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e1fd9190a4a3f" /><Relationship Type="http://schemas.openxmlformats.org/officeDocument/2006/relationships/notesSlide" Target="/ppt/notesSlides/notesSlide11.xml" Id="R6afa96dad7e340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39C0B8"/>
            </a:solidFill>
          </c:spPr>
          <c:cat>
            <c:strRef>
              <c:f>'Chart Data'!$A$2:$A$6</c:f>
              <c:strCache>
                <c:ptCount val="5"/>
                <c:pt idx="0">
                  <c:v>Coverage</c:v>
                </c:pt>
                <c:pt idx="1">
                  <c:v>Specificity</c:v>
                </c:pt>
                <c:pt idx="2">
                  <c:v>Navigability</c:v>
                </c:pt>
                <c:pt idx="3">
                  <c:v>Actionability</c:v>
                </c:pt>
                <c:pt idx="4">
                  <c:v>Governance freshness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4.5</c:v>
                </c:pt>
                <c:pt idx="1">
                  <c:v>3.7</c:v>
                </c:pt>
                <c:pt idx="2">
                  <c:v>2.7</c:v>
                </c:pt>
                <c:pt idx="3">
                  <c:v>3.2</c:v>
                </c:pt>
                <c:pt idx="4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f7d9a26a242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E6A5C-E47D-4626-B799-5CCBD7E7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C2B">
              <a:alpha val="86667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4926C-4B35-4062-A7BD-9324B968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Healthcare Privacy Notice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2DAA7-8745-4E9A-9650-7B63301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GDPR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C9ABB-F717-4890-9C73-C5B4D60A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FF4F2"/>
                </a:solidFill>
                <a:latin typeface="Arial"/>
                <a:ea typeface="Arial"/>
                <a:cs typeface="Arial"/>
              </a:rPr>
              <a:t>Transparency maturity assessment and remediation blueprint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7D879-3B1B-4148-B574-E4A8CB17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Public healthcare notice review / EU GDPR /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AACF6-C127-4F84-B0A0-C6248706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Spyridon Grouztidis</a:t>
            </a:r>
          </a:p>
        </p:txBody>
      </p:sp>
    </p:spTree>
    <p:extLst>
      <p:ext uri="{BB962C8B-B14F-4D97-AF65-F5344CB8AC3E}">
        <p14:creationId xmlns:p14="http://schemas.microsoft.com/office/powerpoint/2010/main" val="42420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C0F47-6775-4F68-BEE9-5E2072E0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FB78D-F4D9-420B-95D3-3E0859E2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Scope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79CDE-6D57-4FD6-A88F-D9CDC63E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F371F-1CAB-413D-8751-7CB406E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676E1-877E-4896-9A33-CA197C7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D465F-C7A2-40C8-BA92-F074C2AA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FF4F2"/>
                </a:solidFill>
                <a:latin typeface="Arial"/>
                <a:ea typeface="Arial"/>
                <a:cs typeface="Arial"/>
              </a:rPr>
              <a:t>The review tests public transparency, not internal compliance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A2C8A-400D-4FEE-811E-3A136989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9C0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64E49-5945-4FF4-9451-0EE9CCF0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0EE3F-39CE-4209-95B5-46469034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2781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Public notice content, structure, navigation, contact routes and displayed 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57428-7E5E-4984-88DF-C69A4A70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4D7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89AEA-2EAC-41EB-B356-FA72D541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241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Assessed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CD0F6-A91D-481E-A632-9F1B406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2781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Presence, specificity, navigability and actionability against GDPR transparency criteria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8BBA4-9C4D-4DAA-9E07-739BCEE6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77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6A7B5-2E26-4E5C-9B23-565F45E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E05F0-651F-4D18-830B-39D1A816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781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Internal contracts, security evidence, DPIAs, deletion logs, consent records and interviews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AE121-49C0-40B0-87E5-D1246DE2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339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 missing public explanation does not prove that an internal control is absent.</a:t>
            </a:r>
          </a:p>
        </p:txBody>
      </p:sp>
    </p:spTree>
    <p:extLst>
      <p:ext uri="{BB962C8B-B14F-4D97-AF65-F5344CB8AC3E}">
        <p14:creationId xmlns:p14="http://schemas.microsoft.com/office/powerpoint/2010/main" val="951999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AFAB5-5E2D-4948-BA17-6A9A2DDA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57FF7-EA1E-4CD9-9F66-CECDEC6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Transparency maturity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DAC86-ABC2-4F72-89DF-3D15FB64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219E7-2C84-480E-8131-5D7817DA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E666F-2AF8-4287-8491-AB2FEA14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04875" y="1809750"/>
          <a:ext xmlns:a="http://schemas.openxmlformats.org/drawingml/2006/main" cx="6858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9114c61fd7432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F7CAB-C48D-48C9-9F21-54A56896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314325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84C85-CB87-4864-8B20-4D706ED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OVERALL MATURITY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8EDA8-34B5-4504-8192-DEDD84A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7.1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82DAC-5354-48D9-A2AC-9F48D171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78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Broad legal coverage</a:t>
            </a:r>
          </a:p>
          <a:p xmlns:a="http://schemas.openxmlformats.org/drawingml/2006/main">
            <a:pPr>
              <a:defRPr sz="150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with a weaker reader journey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8ABBE-1970-4C25-87C3-D6B1400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177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17768"/>
                </a:solidFill>
                <a:latin typeface="Arial"/>
                <a:ea typeface="Arial"/>
                <a:cs typeface="Arial"/>
              </a:rPr>
              <a:t>Portfolio rating</a:t>
            </a:r>
          </a:p>
          <a:p xmlns:a="http://schemas.openxmlformats.org/drawingml/2006/main">
            <a:pPr>
              <a:defRPr sz="975" b="1">
                <a:solidFill>
                  <a:srgbClr val="E1776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17768"/>
                </a:solidFill>
                <a:latin typeface="Arial"/>
                <a:ea typeface="Arial"/>
                <a:cs typeface="Arial"/>
              </a:rPr>
              <a:t>Not a legal certification</a:t>
            </a:r>
          </a:p>
        </p:txBody>
      </p:sp>
    </p:spTree>
    <p:extLst>
      <p:ext uri="{BB962C8B-B14F-4D97-AF65-F5344CB8AC3E}">
        <p14:creationId xmlns:p14="http://schemas.microsoft.com/office/powerpoint/2010/main" val="195764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A6DF8-B7C0-4991-8496-13FBB99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B7510-B36B-4E75-9F14-33969249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Strong coverage creates a solid redesign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AE742-4EC3-4F3F-A616-0D5781EE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D6211-50F5-4E23-9481-CF237A00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33407-FF02-42FB-8175-B90EDEB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4C129-A3A4-43B5-A320-E31BC2A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Data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D4992-33CA-4C6E-AE62-9EEA3DF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C0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B870D-7384-4943-9AE8-8DAD570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7907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Health, genetic, biometric, insurance, workforce, CCTV, call and browsing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D75C8-C28A-4477-9E1C-2EA0463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Legal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BBB41-B301-4DEA-A134-357EF4C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908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C0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4E426-9CA7-46BF-9A18-DFD71EF0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81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Healthcare, public health, contract, legal obligation, claims, consent and legitimate interests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AB09C-F897-4719-855E-FE747B13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Lifecycle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60F92-C949-4FD4-9223-7CF312B8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81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C0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CD1C58-C4BA-401E-8CAE-50651EA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719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Recipients, transfers, retention, security, DPIA and breach 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49EDC-AE0A-4FA1-88DD-D19711E4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Rights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4002F-BE1B-4A5D-BC6B-C377E4BE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C0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3AD31-CAE9-4AA2-A0FA-FA246188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625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Core rights, response timing, DPO contact and supervisory routes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73FA0-B9BD-467A-AC3B-BE6BBD8D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FF4F2"/>
                </a:solidFill>
                <a:latin typeface="Arial"/>
                <a:ea typeface="Arial"/>
                <a:cs typeface="Arial"/>
              </a:rPr>
              <a:t>The redesign should preserve substance while improving traceability and navigation.</a:t>
            </a:r>
          </a:p>
        </p:txBody>
      </p:sp>
    </p:spTree>
    <p:extLst>
      <p:ext uri="{BB962C8B-B14F-4D97-AF65-F5344CB8AC3E}">
        <p14:creationId xmlns:p14="http://schemas.microsoft.com/office/powerpoint/2010/main" val="426769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63BA8-379D-4C28-ABE9-86BEDA86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8D6E4-516D-4C38-82F8-053D4824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Priority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C2C01-5B6F-4310-AC02-124C0571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696CB-F679-4BA5-9154-5908B39D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CA093-A514-43A4-9248-67AE4BD7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76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1428750"/>
                <a:gridCol w="5143500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71C2B"/>
                          </a:solidFill>
                          <a:latin typeface="Arial"/>
                          <a:ea typeface="Arial"/>
                          <a:cs typeface="Arial"/>
                        </a:rPr>
                        <a:t>Finding</a:t>
                      </a:r>
                    </a:p>
                  </a:txBody>
                  <a:tcPr marL="114300" marR="114300" marT="76200" marB="76200" anchor="ctr">
                    <a:solidFill>
                      <a:srgbClr val="39C0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71C2B"/>
                          </a:solidFill>
                          <a:latin typeface="Arial"/>
                          <a:ea typeface="Arial"/>
                          <a:cs typeface="Arial"/>
                        </a:rPr>
                        <a:t>Severity</a:t>
                      </a:r>
                    </a:p>
                  </a:txBody>
                  <a:tcPr marL="114300" marR="114300" marT="76200" marB="76200" anchor="ctr">
                    <a:solidFill>
                      <a:srgbClr val="39C0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71C2B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114300" marR="114300" marT="76200" marB="76200" anchor="ctr">
                    <a:solidFill>
                      <a:srgbClr val="39C0B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Long notice serves many audiences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Layered audience modules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Processing elements require cross-reading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Purpose-level processing matrix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Entity roles are hard to determine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Entity and controller map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Retention mixes periods and broad criteria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Controlled retention schedule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Displayed review date is July 2022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7FAFC"/>
                          </a:solidFill>
                          <a:latin typeface="Arial"/>
                          <a:ea typeface="Arial"/>
                          <a:cs typeface="Arial"/>
                        </a:rPr>
                        <a:t>Owned refresh and change log</a:t>
                      </a:r>
                    </a:p>
                  </a:txBody>
                  <a:tcPr marL="114300" marR="114300" marT="76200" marB="76200" anchor="ctr">
                    <a:solidFill>
                      <a:srgbClr val="0E2B3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81006-7611-4188-A5F0-1989D5AD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Severity reflects reader impact and governance risk, not an enforcement prediction.</a:t>
            </a:r>
          </a:p>
        </p:txBody>
      </p:sp>
    </p:spTree>
    <p:extLst>
      <p:ext uri="{BB962C8B-B14F-4D97-AF65-F5344CB8AC3E}">
        <p14:creationId xmlns:p14="http://schemas.microsoft.com/office/powerpoint/2010/main" val="1686991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1FBCE-11C0-4397-BC38-29841A0A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34F4D-A21B-4243-8C54-0575E10C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main gap is purpose-level 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68F20-F558-4B59-BA1B-DEBA1A73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F7718-5656-4E99-8DBC-607B8AB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B458C-C2BA-4A37-91B4-57CD0E0B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F2EDF-D75F-4628-AB60-ABD66EB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C1269-284D-4B1E-9049-35AA8DC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C42FD-9A90-451A-9DE2-3222281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C9080-8EAB-4B03-9F9A-20FEC205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B99E5-A20F-4CFE-997C-EA76F1DD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1947B-DE67-4D22-97AB-C0B53C5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Article 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133BF-35DB-498B-AC7A-13920E28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B6040-4D10-4EF8-A3F4-DF35A78F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Article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FDA8E-EE5C-4E47-9661-191B2C83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730F8-563D-4C69-A711-3C1C7AAF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Recipients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1A5A7-5DED-4635-8038-C70A4BCE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2BF27-C28E-41FA-A7AE-A4F303CE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ABDC0-D727-4F82-BDFD-BCE8CA8D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28875"/>
            <a:ext cx="13525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B217A-DB2B-4F4C-B698-99DDE9A7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289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Rights</a:t>
            </a:r>
          </a:p>
        </p:txBody>
      </p: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3835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C0B8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29025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C0B8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21970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C0B8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10375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C0B8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401050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C0B8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91725" y="283845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C0B8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D81C4-81D6-4C2E-85F6-4E7A18B8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100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8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notice contains these elements in separate sections. A reader must reconstruct the relationship.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4414F3-470E-438F-9870-D864813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053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FF4F2"/>
                </a:solidFill>
                <a:latin typeface="Arial"/>
                <a:ea typeface="Arial"/>
                <a:cs typeface="Arial"/>
              </a:rPr>
              <a:t>A single processing row should connect all seven fields for each service and purpose.</a:t>
            </a:r>
          </a:p>
        </p:txBody>
      </p:sp>
    </p:spTree>
    <p:extLst>
      <p:ext uri="{BB962C8B-B14F-4D97-AF65-F5344CB8AC3E}">
        <p14:creationId xmlns:p14="http://schemas.microsoft.com/office/powerpoint/2010/main" val="15072507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5AF3A-39A7-4853-A4AD-2356252B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70753-9D11-4DE8-ACB4-1755E5FB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Three governance questions need clearer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5EB07-FB6D-4279-BCE5-B4312674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9E645-815D-4E2C-963F-F5B3C03E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810FF-B7A2-4E93-8B0C-CC4000E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21A3E-4D46-48DF-8900-1EAB2563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9C0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A06CF-9ED0-453C-A04A-3B9B0827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43100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Which controller?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DEC84-8D82-49B8-8A0A-7646F946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66950"/>
            <a:ext cx="30194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Identify the responsible entity for each clinic, laboratory, digital service, recruitment process or research activity.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E4A5A-B8A1-46E1-9B56-3A1DF258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B9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CC0E7-4525-4851-8879-3F3FEFE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How long?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4B158-AA6F-4E16-9916-B7CC173F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30194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Show the retention trigger, period, legal source and disposal event for each record category.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9F51C-3774-4B62-8AA0-041CFCF9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177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EC314-6DCC-4CED-A29F-BF657872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43100"/>
            <a:ext cx="3019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Which transfer?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FE273-59FB-4B07-8A11-9404C06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66950"/>
            <a:ext cx="3019425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Connect destinations and mechanisms to the relevant purpose and explain how safeguards can be requested.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C430B-BA20-4B4B-9E99-22BE2E2D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These are public-transparency questions. Internal arrangements require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803273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F2305-E375-4BFD-A921-612DEF2A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91E69-16EE-4DAC-AF26-C8A0F7E5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Target notice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C7573-1F7D-4D86-BC61-7AF061BA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28B0-50B8-4172-AE85-7FA8276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B814C-CA9D-44C7-A664-210A76D7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0789A-C88C-4DE2-804B-F25E6065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8953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2394A"/>
          </a:solidFill>
          <a:ln xmlns:a="http://schemas.openxmlformats.org/drawingml/2006/main" w="9525">
            <a:solidFill>
              <a:srgbClr val="39C0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52CDB-3E63-421F-96E0-B3E95C8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955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Layer 1  Immediate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87129-44A0-4392-8F20-90979998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Controller / purpose / essential data / key retention / rights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37386-4810-46AF-9FA5-5F22CD81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43250"/>
            <a:ext cx="80962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74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DBDF4-7546-45C4-9C01-03BF3490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95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Layer 2  Audience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815A2-B613-4035-A122-EF043F8D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766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Patients, digital users, research, recruitment, workforce, suppliers, CCTV and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4E034-D29C-4302-9E77-8E834454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24375"/>
            <a:ext cx="7143750" cy="104775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0A2434"/>
          </a:solidFill>
          <a:ln xmlns:a="http://schemas.openxmlformats.org/drawingml/2006/main" w="9525">
            <a:solidFill>
              <a:srgbClr val="315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68D2E-6495-4DEF-8393-12665F9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6863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Layer 3  Complete legal notice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E42D3-3196-4F10-B58F-A93F4CBF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673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Full rights, transfers, security, complaints, DPO and governance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439B0-E422-4BAA-86DD-0D4AD4C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531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FF4F2"/>
                </a:solidFill>
                <a:latin typeface="Arial"/>
                <a:ea typeface="Arial"/>
                <a:cs typeface="Arial"/>
              </a:rPr>
              <a:t>Contextual notices should open the relevant layer at the moment data is collected.</a:t>
            </a:r>
          </a:p>
        </p:txBody>
      </p:sp>
    </p:spTree>
    <p:extLst>
      <p:ext uri="{BB962C8B-B14F-4D97-AF65-F5344CB8AC3E}">
        <p14:creationId xmlns:p14="http://schemas.microsoft.com/office/powerpoint/2010/main" val="11789973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A3D55F-1327-4705-B8E1-46C3F0A9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647B7-2C67-42F4-A972-B72091EF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An auditable processing 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3CA5F-0B7E-45C1-A31B-251E0E44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DD5C8-E667-4829-9EA1-C8A57DA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5B3A0-0EEF-445A-84CE-5E20449F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546B3-8AC2-4A46-B0D3-D8F924AC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8B61D-2DBA-4528-B126-49D53A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621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C0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02379-CBF3-460E-99C3-0CEDE97E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811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Service and 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EA2E4-061F-499F-8CE1-E6DC9A8B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811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One row per processing 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18031-5C85-437D-9792-27575E37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907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0C6EF-B2FB-4B6F-AB9E-D461CC54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431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C0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76A90-CCB0-43DD-B3CA-7F9E7D44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62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Purpose and necessity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CC33E-7528-4620-9557-2B9900D2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6822D-4CCD-4F33-A59E-19CA58D3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242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D7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629BD-EBE3-4CC2-A424-43F0A2E1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432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Data and source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485E5-FBD0-4C30-8D60-C8C64E8A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5282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392F1-631C-4F3C-9596-AFD3AA40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052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D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50B51-4D3A-4EB0-9CC1-0CA5CEB2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24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Article 6 and Article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C02654-C6CE-4C0A-A48F-2275C934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5B9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B9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A86E1-67D9-43C5-953B-074FC968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862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B9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31FF2-9D96-462A-A6F2-6DF497E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052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Recipients and transfers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44D9A-8B98-4BF4-928D-6D42BD71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5B95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B95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1C6FF-FF5F-47C4-AE87-30F83E45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67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5B9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C712D-1403-4439-8676-7054DDF7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Retention event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2173D-77B7-4CBB-900C-6AC6D413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177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177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A9A32-BF3C-4DB1-B024-AB522299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177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D4C72B-DC02-44EC-B708-5E0B46D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673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Rights and automation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99CD3-8224-437E-877D-E46EE73B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FF4F2"/>
                </a:solidFill>
                <a:latin typeface="Arial"/>
                <a:ea typeface="Arial"/>
                <a:cs typeface="Arial"/>
              </a:rPr>
              <a:t>This structure turns the notice into a controlled view of the processing inventory.</a:t>
            </a:r>
          </a:p>
        </p:txBody>
      </p:sp>
    </p:spTree>
    <p:extLst>
      <p:ext uri="{BB962C8B-B14F-4D97-AF65-F5344CB8AC3E}">
        <p14:creationId xmlns:p14="http://schemas.microsoft.com/office/powerpoint/2010/main" val="1923209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73E49-2208-4C37-B85E-051BF679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B9DF2-C0E2-4416-88C1-6FE86BEE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Ninety-day remediation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24A79-A073-4E6F-88C2-F221F39D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90C0A-F9C0-428C-B9C0-D3EA2DEE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0ECAE-FBDD-4034-922B-362E9DD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EC18A-9D96-48F2-8F48-F9BF6A9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428875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39C0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F7599-49D8-41A8-8367-502E0784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0-30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78CB4-BB9B-4DE2-8C4C-C51A62B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28950"/>
            <a:ext cx="1971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Inventory entities, services, notices, owners and retention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7DD80-103F-4023-A7C6-9A225F36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2428875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74D7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423F7-CBF4-43C4-AC66-AE84721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4D7E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4D7E2"/>
                </a:solidFill>
                <a:latin typeface="Arial"/>
                <a:ea typeface="Arial"/>
                <a:cs typeface="Arial"/>
              </a:rPr>
              <a:t>31-60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39322-A1AC-4971-BC55-5FBCBDFB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28950"/>
            <a:ext cx="1971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Build the processing matrix and audience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E760F-1E14-4BA9-85DA-09BFC8C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2428875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E5B9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84F74-9BF9-4F29-B039-3CFEE1D5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5B9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B957"/>
                </a:solidFill>
                <a:latin typeface="Arial"/>
                <a:ea typeface="Arial"/>
                <a:cs typeface="Arial"/>
              </a:rPr>
              <a:t>61-90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AA99F-4D84-4163-AD6C-3AB7DE4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028950"/>
            <a:ext cx="1971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Publish, test accessibility and launch the rights hub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1C796-C49F-43DC-A8A5-54A4ABB2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428875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0E2B3D"/>
          </a:solidFill>
          <a:ln xmlns:a="http://schemas.openxmlformats.org/drawingml/2006/main" w="9525">
            <a:solidFill>
              <a:srgbClr val="E177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07F89-8FEE-47EC-8960-0F33FFC6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1776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17768"/>
                </a:solidFill>
                <a:latin typeface="Arial"/>
                <a:ea typeface="Arial"/>
                <a:cs typeface="Arial"/>
              </a:rPr>
              <a:t>Ongoing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F514D-0B78-4449-974E-AD4D0424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28950"/>
            <a:ext cx="1971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Review annually and when processing materially changes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3337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66A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00750" y="33337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66A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337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66A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52BE1-51A2-43D3-AB1A-CE73A27F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FF4F2"/>
                </a:solidFill>
                <a:latin typeface="Arial"/>
                <a:ea typeface="Arial"/>
                <a:cs typeface="Arial"/>
              </a:rPr>
              <a:t>The DPO advises and monitors. Business owners validate operations. The controller remains accountable.</a:t>
            </a:r>
          </a:p>
        </p:txBody>
      </p:sp>
    </p:spTree>
    <p:extLst>
      <p:ext uri="{BB962C8B-B14F-4D97-AF65-F5344CB8AC3E}">
        <p14:creationId xmlns:p14="http://schemas.microsoft.com/office/powerpoint/2010/main" val="14884784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C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35B69-63E3-48FB-94A3-704D148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PRIVACY NOTICE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DB8D3-73E3-4344-AB23-EE3418B7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Assessment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F7A63-1450-461A-8899-3CDB3F8F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4D438-C543-400B-886B-64BFE149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Spyridon Grouztidis / 15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52878-320D-4ABA-ABA6-66A88D0A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7C7D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B2724-598E-4EF3-8A60-3E6D586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39C0B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39C0B8"/>
                </a:solidFill>
                <a:latin typeface="Arial"/>
                <a:ea typeface="Arial"/>
                <a:cs typeface="Arial"/>
              </a:rPr>
              <a:t>7.1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6F1DA-6546-4CB7-80D7-D90C66CD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Transparency maturity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8E4A7-2BF2-413F-BE2E-9D81C1B8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99778-42D5-4E79-B213-B24AA008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The notice covers the right topics.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0C915-9CAA-4E85-A04A-FCC228D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638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FF4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FF4F2"/>
                </a:solidFill>
                <a:latin typeface="Arial"/>
                <a:ea typeface="Arial"/>
                <a:cs typeface="Arial"/>
              </a:rPr>
              <a:t>Its next maturity step is a controlled notice system that connects every purpose to the responsible entity, data, legal basis, recipients, retention and rights.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B17B1-A745-4227-995B-050CD988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177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17768"/>
                </a:solidFill>
                <a:latin typeface="Arial"/>
                <a:ea typeface="Arial"/>
                <a:cs typeface="Arial"/>
              </a:rPr>
              <a:t>Recommended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9A121C-5C25-414D-9612-3C13A379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647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Layered notices / purpose-level matrix / contextual delivery / review governance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8EBDC-BCF8-4CA1-8F67-60BAC4E3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7687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C7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7D2"/>
                </a:solidFill>
                <a:latin typeface="Arial"/>
                <a:ea typeface="Arial"/>
                <a:cs typeface="Arial"/>
              </a:rPr>
              <a:t>Independent portfolio case study / No patient data / Not legal advice</a:t>
            </a:r>
          </a:p>
        </p:txBody>
      </p:sp>
    </p:spTree>
    <p:extLst>
      <p:ext uri="{BB962C8B-B14F-4D97-AF65-F5344CB8AC3E}">
        <p14:creationId xmlns:p14="http://schemas.microsoft.com/office/powerpoint/2010/main" val="2091706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2026-10-14T22:52:58.3110000Z</dcterms:created>
  <dcterms:modified xsi:type="dcterms:W3CDTF">2026-10-14T22:52:58.3110000Z</dcterms:modified>
</coreProperties>
</file>